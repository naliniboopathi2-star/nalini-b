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8" r:id="rId3"/>
    <p:sldId id="261" r:id="rId4"/>
    <p:sldId id="267" r:id="rId5"/>
    <p:sldId id="260" r:id="rId6"/>
    <p:sldId id="266" r:id="rId7"/>
    <p:sldId id="263" r:id="rId8"/>
    <p:sldId id="262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E86135-D4C4-4D05-9FBB-1A365927B752}" v="11" dt="2026-09-25T06:27:39.9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F8B7F-EFC7-0FAD-4D7F-21E6690427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34D96B-FA0F-451C-202D-E7C247DEA3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0EF281-14C4-BD09-FBB8-6D88EB438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46703-36DB-4862-B22D-FD27C6ED51AE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B3CF5B-CBEF-AA9A-EA05-29DE0A345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2B3BAD-EFCD-14D2-C1F5-DAAC2AB07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DBC83-45FC-4F43-9F83-1E6598F01B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5131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E1D40-6AF2-7F6A-859F-F0F6399BB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61932-1996-13D0-0E3E-99B9F39036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CEEE0F-55C4-D36F-968D-BF5ED871F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46703-36DB-4862-B22D-FD27C6ED51AE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C5E806-A9E0-2082-7C85-3F8168687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AE103-2633-0EB7-677D-B8B563AD4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DBC83-45FC-4F43-9F83-1E6598F01B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222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9760D-E46E-B4B7-B570-1B83A9CF5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383576-D120-59DD-C3E1-95D11DF254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97A34B-4129-AD97-6BBA-F3B0F33B8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46703-36DB-4862-B22D-FD27C6ED51AE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DA39CE-E19E-A4DA-06D1-8E9D297C9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6DB111-9C5C-934E-8656-E51E58C1A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DBC83-45FC-4F43-9F83-1E6598F01B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7347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994D3-5EEE-A3D8-C7C3-44AB67560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624780-F2BD-490A-4C54-9F8CF2B302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A28489-455A-62C7-0C56-85F985A8BA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74C789-7F60-23BC-7D5F-516E4EED6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46703-36DB-4862-B22D-FD27C6ED51AE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6F80FE-3664-7A83-9FF9-A374CC5D1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749D47-B704-8141-47D2-3458BE6F1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DBC83-45FC-4F43-9F83-1E6598F01B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4591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66483-98E6-87AF-0DF1-6604B6F02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ECE9F8-BF13-2626-4955-3FA62268B3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0CC404-E342-29C7-9C88-29C417D24D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BCDE79-CB1D-F05A-2AE7-16E33CBFE8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068FD5-6AA2-1F9E-4246-CEB9DA2D81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6500FD-6749-C98F-F032-1173857D4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46703-36DB-4862-B22D-FD27C6ED51AE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B153F9-E425-EF76-04A9-EF9A60406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268453-F297-2F73-8B2A-C3B0DD91B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DBC83-45FC-4F43-9F83-1E6598F01B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1255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2BFD7-BD99-8A5B-660B-5D7DC96CA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144842-7865-6074-4B66-AB24DA8AA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46703-36DB-4862-B22D-FD27C6ED51AE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0B02B8-A422-BBC5-2E21-35A8C3CA5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43E0F9-EB9B-1C01-DD97-9D668769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DBC83-45FC-4F43-9F83-1E6598F01B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3517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50FD74-E730-B310-5CF0-ADF310484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46703-36DB-4862-B22D-FD27C6ED51AE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B786AF-283E-55F8-9ED8-58F5C2C88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3A2182-B6E5-65E2-E5C3-70C8EAC2A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DBC83-45FC-4F43-9F83-1E6598F01B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3377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11A19-FB67-137C-740B-1D1EA38F9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A6CD53-84BD-D5B8-FE2B-FB7F366891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7CCB52-753A-5A89-7817-1F62975C23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72FEE0-F4D5-2664-1145-389D25791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46703-36DB-4862-B22D-FD27C6ED51AE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E8E93D-72A7-8AE6-5A5A-BD54FA955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678943-8ED3-754A-21BD-97C598BD9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DBC83-45FC-4F43-9F83-1E6598F01B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63864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87BE8-30DA-33A1-C28B-04D05B779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4534B2-6CA1-4427-8FFC-1C1F85469C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53EE6F-60AB-5D58-9D2F-50978ADF92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990213-88FA-9147-57F8-A44BD8972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46703-36DB-4862-B22D-FD27C6ED51AE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AFE8B8-D68C-D344-A716-F40A1556F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49ECE9-38AB-1949-9B0F-41C611EF4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DBC83-45FC-4F43-9F83-1E6598F01B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1825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A41EC-052C-9C4A-0151-4A87414EC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4B2749-3386-237D-7533-ECC99A34FD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88FFBC-8314-8A05-C2F3-D095AA158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46703-36DB-4862-B22D-FD27C6ED51AE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95325-57F9-BB1F-BE2D-A78A061B2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8EE4CA-E965-3AAA-CA87-2D1CFCEB9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DBC83-45FC-4F43-9F83-1E6598F01B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4536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D558CF-9ECD-2A8A-43F6-A3F2679541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580C74-AFD2-0A21-1A9D-7A0B504151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0FE050-623C-22F7-DB6E-AD0734FE8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46703-36DB-4862-B22D-FD27C6ED51AE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B6C8E5-BE4C-2543-DD0D-FF14C415F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8FCB75-95AC-064B-199A-85EE00D91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DBC83-45FC-4F43-9F83-1E6598F01B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4660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B79BE7-9D0D-F88D-8559-C63E31007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484043-AA86-1BE0-273A-0380DB017C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B8664A-F407-6D71-0851-49E9A00859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A46703-36DB-4862-B22D-FD27C6ED51AE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58A761-06A1-BC92-8083-D4C54770C4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254EB8-DECB-580F-6367-88DCC4BBFB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DDBC83-45FC-4F43-9F83-1E6598F01B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8557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ibp=oshop&amp;prds=pvt:hg,pvo:29,imageDocid:1886865113299605324,gpcid:14459090044789302952,headlineOfferDocid:8980298189708148355,catalogid:12962605566822077890,productDocid:6473997160727263953,rds:PC_14459090044789302952%7CPROD_PC_14459090044789302952&amp;q=product&amp;sa=X&amp;ved=2ahUKEwjIrsa54euWAxV4a_UHHUqzH-oQxa4PegYIAAgMEAI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hyperlink" Target="https://www.google.com/search?ibp=oshop&amp;prds=pvt:hg,pvo:29,imageDocid:16485412828549688145,gpcid:9730501706919823735,headlineOfferDocid:13761867195562566385,catalogid:11970420303400681094,productDocid:868876433186985759&amp;q=product&amp;sa=X&amp;ved=2ahUKEwjIrsa54euWAxV4a_UHHUqzH-oQxa4PegYIAAgMEAQ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4FB5D1F3-6893-1FB4-31F6-0F6875B1298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532310-60A0-78F7-3F25-52173F2B0D12}"/>
              </a:ext>
            </a:extLst>
          </p:cNvPr>
          <p:cNvSpPr txBox="1"/>
          <p:nvPr/>
        </p:nvSpPr>
        <p:spPr>
          <a:xfrm>
            <a:off x="471949" y="653442"/>
            <a:ext cx="10776154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IN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2400" b="1" dirty="0" err="1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GridTwin</a:t>
            </a:r>
            <a:r>
              <a:rPr lang="en-IN" sz="24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AI-Powered Digital Twin for Community Energy Resilience</a:t>
            </a:r>
            <a:endParaRPr lang="en-IN" sz="2800" dirty="0">
              <a:solidFill>
                <a:schemeClr val="accent4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IN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</a:t>
            </a:r>
            <a:r>
              <a:rPr lang="en-IN" sz="28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Name:V</a:t>
            </a:r>
            <a:r>
              <a:rPr lang="en-IN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elora</a:t>
            </a:r>
            <a:endParaRPr lang="en-IN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IN" sz="28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College: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Sona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College Of Technology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Theme:</a:t>
            </a:r>
            <a:r>
              <a:rPr lang="en-I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Sustainable Development and renewable energy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IN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</a:t>
            </a:r>
            <a:r>
              <a:rPr lang="en-IN" sz="28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by:</a:t>
            </a:r>
            <a:r>
              <a:rPr lang="en-IN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communities add solar panels, EV chargers, and other distributed energy resources, local grid operators struggle to understand if the infrastructure can handle the new load. Building a physical grid upgrade just to test a scenario is prohibitively expensive.</a:t>
            </a:r>
          </a:p>
          <a:p>
            <a:endParaRPr lang="en-IN" dirty="0"/>
          </a:p>
        </p:txBody>
      </p:sp>
      <p:pic>
        <p:nvPicPr>
          <p:cNvPr id="3" name="Picture 2" descr="AI generated image">
            <a:extLst>
              <a:ext uri="{FF2B5EF4-FFF2-40B4-BE49-F238E27FC236}">
                <a16:creationId xmlns:a16="http://schemas.microsoft.com/office/drawing/2014/main" id="{7C11A1B4-C5B1-03A5-D0BD-A181C6BA28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0542" y="1746761"/>
            <a:ext cx="3313470" cy="2139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1572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5F1F5483-C5A3-B2D9-3505-2AA632CF6BA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6F9C5B-44BC-25A8-4ADA-2B230F1A01FC}"/>
              </a:ext>
            </a:extLst>
          </p:cNvPr>
          <p:cNvSpPr txBox="1"/>
          <p:nvPr/>
        </p:nvSpPr>
        <p:spPr>
          <a:xfrm>
            <a:off x="530942" y="142067"/>
            <a:ext cx="10943304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SOLUTION:</a:t>
            </a:r>
            <a:endParaRPr lang="en-US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low-cost IoT sensor kit on a community transformer feeds real-time data to a local digital twin. It works in manual mode (rule-based alerts) and AI mode (forecasts load, simulates solar/EV scenarios, suggests optimal solutions). A dashboard visualizes everything, enabling communities to test grid upgrades virtually  without physical infrastructure.</a:t>
            </a:r>
          </a:p>
          <a:p>
            <a:endParaRPr lang="en-IN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IT ADDRESS THE PROBLEM: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Real-time sensors keep the digital twin accurate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Manual mode gives instant overload alerts; AI mode predicts and prevents issues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Enables safe solar/EV integration without outages or costly upgrades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offline, making clean energy accessible in remote area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UNIQUE VALUE PROPOSITIONS:</a:t>
            </a:r>
          </a:p>
          <a:p>
            <a:endParaRPr lang="en-US" sz="2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arenR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Infrastructure Cost Reduction: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Slashes hardware deployment costs from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₹4,0,000+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down to a budget-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friendl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buFont typeface="+mj-lt"/>
              <a:buAutoNum type="arabicParenR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Non-Invasive "Zero-Friction" Setup: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Clamps onto the low-voltage consumer side with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dangerous line-cutting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complex regulatory approvals.</a:t>
            </a:r>
          </a:p>
          <a:p>
            <a:pPr marL="342900" lvl="0" indent="-342900">
              <a:buFont typeface="+mj-lt"/>
              <a:buAutoNum type="arabicParenR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"What-If" Grid Sandbox: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Converts abstract power-flow math into a gamified dashboard with simple sliders for non-technical community leaders.</a:t>
            </a:r>
          </a:p>
          <a:p>
            <a:pPr marL="342900" lvl="0" indent="-342900">
              <a:buFont typeface="+mj-lt"/>
              <a:buAutoNum type="arabicParenR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Cloud Compute Efficiency: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Keeps on-site hardware lightweight by offloading heavy grid physics to an optimized, open-source Python cloud engine.</a:t>
            </a:r>
          </a:p>
          <a:p>
            <a:pPr marL="342900" lvl="0" indent="-342900">
              <a:buFont typeface="+mj-lt"/>
              <a:buAutoNum type="arabicParenR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Bottom-Up Resilience Optimization: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Empowers local citizens to independently validate and scale their own renewable assets before spending heavy capital.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308742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CD0AC787-CC79-0716-813A-3B3ABAAFB8E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  <p:txBody>
          <a:bodyPr/>
          <a:lstStyle/>
          <a:p>
            <a:endParaRPr lang="en-IN" dirty="0"/>
          </a:p>
        </p:txBody>
      </p:sp>
      <p:pic>
        <p:nvPicPr>
          <p:cNvPr id="9" name="Picture 8" descr="AI generated image">
            <a:extLst>
              <a:ext uri="{FF2B5EF4-FFF2-40B4-BE49-F238E27FC236}">
                <a16:creationId xmlns:a16="http://schemas.microsoft.com/office/drawing/2014/main" id="{8572314F-3EB6-AD2E-6A5C-B3D07F1135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813" y="953682"/>
            <a:ext cx="11774129" cy="541762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8A61A4A-8B62-9392-8477-757A091ED30E}"/>
              </a:ext>
            </a:extLst>
          </p:cNvPr>
          <p:cNvSpPr txBox="1"/>
          <p:nvPr/>
        </p:nvSpPr>
        <p:spPr>
          <a:xfrm>
            <a:off x="3510116" y="492016"/>
            <a:ext cx="77281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APPROCH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797688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2">
            <a:extLst>
              <a:ext uri="{FF2B5EF4-FFF2-40B4-BE49-F238E27FC236}">
                <a16:creationId xmlns:a16="http://schemas.microsoft.com/office/drawing/2014/main" id="{4F194532-FBA3-39BA-A658-77053611D7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E657F8-F1FE-4998-43E6-29DC5AED3CD7}"/>
              </a:ext>
            </a:extLst>
          </p:cNvPr>
          <p:cNvSpPr txBox="1"/>
          <p:nvPr/>
        </p:nvSpPr>
        <p:spPr>
          <a:xfrm>
            <a:off x="383457" y="865238"/>
            <a:ext cx="5545395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Runs the backend and grid math.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C++ (Arduino)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Programs the ESP8266 chip.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Builds the web dashboard.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Pandapower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Python library for grid physics.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fast backend data communication.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React.js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Creates the user dashboard UI.</a:t>
            </a:r>
          </a:p>
          <a:p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Hardware: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ESP8266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NodeMCU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Main Wi-Fi microchip for data processing.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DHT11 Sensor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Tracks heat to simulate transformer stress.</a:t>
            </a:r>
          </a:p>
          <a:p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 &amp; Infrastructure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HiveMQ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EMQX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Routes live sensor data instantly.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Vercel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Render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Hosts the app online for free.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758DF79-0886-3B3D-92DD-6BFAA69082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8852" y="1099114"/>
            <a:ext cx="6046838" cy="4259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750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63FB7685-37C8-7205-1A87-EA9EC211D49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72ABCA-36E0-05FD-A4A3-35157A335D18}"/>
              </a:ext>
            </a:extLst>
          </p:cNvPr>
          <p:cNvSpPr txBox="1"/>
          <p:nvPr/>
        </p:nvSpPr>
        <p:spPr>
          <a:xfrm>
            <a:off x="1150374" y="-50564"/>
            <a:ext cx="8937523" cy="55355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7614EA5-4940-7522-DE40-60AF9343A2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292764"/>
              </p:ext>
            </p:extLst>
          </p:nvPr>
        </p:nvGraphicFramePr>
        <p:xfrm>
          <a:off x="924232" y="973394"/>
          <a:ext cx="10343536" cy="49920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45934">
                  <a:extLst>
                    <a:ext uri="{9D8B030D-6E8A-4147-A177-3AD203B41FA5}">
                      <a16:colId xmlns:a16="http://schemas.microsoft.com/office/drawing/2014/main" val="1754412603"/>
                    </a:ext>
                  </a:extLst>
                </a:gridCol>
                <a:gridCol w="5197602">
                  <a:extLst>
                    <a:ext uri="{9D8B030D-6E8A-4147-A177-3AD203B41FA5}">
                      <a16:colId xmlns:a16="http://schemas.microsoft.com/office/drawing/2014/main" val="2874923513"/>
                    </a:ext>
                  </a:extLst>
                </a:gridCol>
              </a:tblGrid>
              <a:tr h="512267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💡 THE INNOVATION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✨ WHY IT’S UNIQUE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7134603"/>
                  </a:ext>
                </a:extLst>
              </a:tr>
              <a:tr h="1492846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🎛️ </a:t>
                      </a:r>
                      <a:r>
                        <a:rPr lang="en-IN" sz="1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 Interactive "What-If" Sandbox</a:t>
                      </a:r>
                      <a:b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Transforms abstract engineering into a gamified dashboard. Users use physical dials or software sliders to predict instant grid outcomes.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🏢 </a:t>
                      </a:r>
                      <a:r>
                        <a:rPr lang="en-IN" sz="1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Enterprise Tech for Communities</a:t>
                      </a:r>
                      <a:b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Brings multi-million-dollar utility predictive </a:t>
                      </a: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modeling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(like Siemens or GE) straight to </a:t>
                      </a:r>
                      <a:r>
                        <a:rPr lang="en-IN" sz="1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local </a:t>
                      </a:r>
                      <a:r>
                        <a:rPr lang="en-IN" sz="1800" b="1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neighborhoods</a:t>
                      </a:r>
                      <a:r>
                        <a:rPr lang="en-IN" sz="1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and solar co-ops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85808"/>
                  </a:ext>
                </a:extLst>
              </a:tr>
              <a:tr h="1455525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🖲️ </a:t>
                      </a:r>
                      <a:r>
                        <a:rPr lang="en-IN" sz="1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₹700 Edge Hardware</a:t>
                      </a:r>
                      <a:b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Operates using an ultra-low-cost, energy-efficient </a:t>
                      </a:r>
                      <a:r>
                        <a:rPr lang="en-IN" sz="1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ESP8266 node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equipped with digital sensors.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🧲 </a:t>
                      </a:r>
                      <a:r>
                        <a:rPr lang="en-IN" sz="1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Non-Invasive Deployment</a:t>
                      </a:r>
                      <a:b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Measures parameters strictly from the low-voltage consumer side. It requires </a:t>
                      </a:r>
                      <a:r>
                        <a:rPr lang="en-IN" sz="1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zero dangerous modifications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to utility lines.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1741056"/>
                  </a:ext>
                </a:extLst>
              </a:tr>
              <a:tr h="1531388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☁️ </a:t>
                      </a:r>
                      <a:r>
                        <a:rPr lang="en-IN" sz="1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Hybrid Edge-Cloud Core</a:t>
                      </a:r>
                      <a:b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hardware gathers data swiftly, while heavy mathematical grid physics are offloaded to an </a:t>
                      </a:r>
                      <a:r>
                        <a:rPr lang="en-IN" sz="1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optimized Python cloud engine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🪵 </a:t>
                      </a:r>
                      <a:r>
                        <a:rPr lang="en-IN" sz="1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Bottom-Up Grid Optimization</a:t>
                      </a:r>
                      <a:b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Flips traditional top-down utility management. It lets citizens </a:t>
                      </a:r>
                      <a:r>
                        <a:rPr lang="en-IN" sz="1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independently validate infrastructure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before spending capital.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8415006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0B617DC5-8491-941B-DB76-C2C3784BDA3A}"/>
              </a:ext>
            </a:extLst>
          </p:cNvPr>
          <p:cNvSpPr txBox="1"/>
          <p:nvPr/>
        </p:nvSpPr>
        <p:spPr>
          <a:xfrm>
            <a:off x="4483510" y="399610"/>
            <a:ext cx="74626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INNOVATION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1DD7F9-B913-802A-1F61-741DF1C6F173}"/>
              </a:ext>
            </a:extLst>
          </p:cNvPr>
          <p:cNvSpPr txBox="1"/>
          <p:nvPr/>
        </p:nvSpPr>
        <p:spPr>
          <a:xfrm>
            <a:off x="2138516" y="6098889"/>
            <a:ext cx="7914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"Test tomorrow's grid today without upgrading a single wire."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3875476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">
            <a:extLst>
              <a:ext uri="{FF2B5EF4-FFF2-40B4-BE49-F238E27FC236}">
                <a16:creationId xmlns:a16="http://schemas.microsoft.com/office/drawing/2014/main" id="{DD89E448-3C56-43C3-DBCB-8DD4B210B26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  <p:txBody>
          <a:bodyPr/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1239A55-F079-0ABB-5066-E09776FFB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2340030"/>
              </p:ext>
            </p:extLst>
          </p:nvPr>
        </p:nvGraphicFramePr>
        <p:xfrm>
          <a:off x="1012723" y="719666"/>
          <a:ext cx="10009236" cy="50125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6412">
                  <a:extLst>
                    <a:ext uri="{9D8B030D-6E8A-4147-A177-3AD203B41FA5}">
                      <a16:colId xmlns:a16="http://schemas.microsoft.com/office/drawing/2014/main" val="1714819502"/>
                    </a:ext>
                  </a:extLst>
                </a:gridCol>
                <a:gridCol w="3336412">
                  <a:extLst>
                    <a:ext uri="{9D8B030D-6E8A-4147-A177-3AD203B41FA5}">
                      <a16:colId xmlns:a16="http://schemas.microsoft.com/office/drawing/2014/main" val="2332153124"/>
                    </a:ext>
                  </a:extLst>
                </a:gridCol>
                <a:gridCol w="3336412">
                  <a:extLst>
                    <a:ext uri="{9D8B030D-6E8A-4147-A177-3AD203B41FA5}">
                      <a16:colId xmlns:a16="http://schemas.microsoft.com/office/drawing/2014/main" val="1006986859"/>
                    </a:ext>
                  </a:extLst>
                </a:gridCol>
              </a:tblGrid>
              <a:tr h="795004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2800" b="0" i="0" dirty="0">
                          <a:solidFill>
                            <a:srgbClr val="0F1115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2800" b="0" i="0">
                          <a:solidFill>
                            <a:srgbClr val="0F1115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2800" b="0" i="0">
                          <a:solidFill>
                            <a:srgbClr val="0F1115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Status</a:t>
                      </a: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3272921004"/>
                  </a:ext>
                </a:extLst>
              </a:tr>
              <a:tr h="795004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2800" b="1" i="0" dirty="0">
                          <a:solidFill>
                            <a:srgbClr val="0F1115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Temperature</a:t>
                      </a:r>
                      <a:endParaRPr lang="en-IN" sz="2800" b="0" i="0" dirty="0">
                        <a:solidFill>
                          <a:srgbClr val="0F1115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2800" b="0" i="0" dirty="0">
                          <a:solidFill>
                            <a:srgbClr val="0F1115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42.5 °C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2800" b="0" i="0" dirty="0">
                          <a:solidFill>
                            <a:srgbClr val="0F1115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🟢 Normal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194585043"/>
                  </a:ext>
                </a:extLst>
              </a:tr>
              <a:tr h="795004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2800" b="1" i="0">
                          <a:solidFill>
                            <a:srgbClr val="0F1115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Load</a:t>
                      </a:r>
                      <a:endParaRPr lang="en-IN" sz="2800" b="0" i="0">
                        <a:solidFill>
                          <a:srgbClr val="0F1115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2800" b="0" i="0" dirty="0">
                          <a:solidFill>
                            <a:srgbClr val="0F1115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 kVA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2800" b="0" i="0">
                          <a:solidFill>
                            <a:srgbClr val="0F1115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🟢 Safe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574800579"/>
                  </a:ext>
                </a:extLst>
              </a:tr>
              <a:tr h="795004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2800" b="1" i="0">
                          <a:solidFill>
                            <a:srgbClr val="0F1115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Solar</a:t>
                      </a:r>
                      <a:endParaRPr lang="en-IN" sz="2800" b="0" i="0">
                        <a:solidFill>
                          <a:srgbClr val="0F1115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2800" b="0" i="0">
                          <a:solidFill>
                            <a:srgbClr val="0F1115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 kW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2800" b="0" i="0" dirty="0">
                          <a:solidFill>
                            <a:srgbClr val="0F1115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🟢 Generating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707401886"/>
                  </a:ext>
                </a:extLst>
              </a:tr>
              <a:tr h="795004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2800" b="1" i="0">
                          <a:solidFill>
                            <a:srgbClr val="0F1115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 Charging</a:t>
                      </a:r>
                      <a:endParaRPr lang="en-IN" sz="2800" b="0" i="0">
                        <a:solidFill>
                          <a:srgbClr val="0F1115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2800" b="0" i="0">
                          <a:solidFill>
                            <a:srgbClr val="0F1115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 cars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2800" b="0" i="0" dirty="0">
                          <a:solidFill>
                            <a:srgbClr val="0F1115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🟢 Normal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500636571"/>
                  </a:ext>
                </a:extLst>
              </a:tr>
              <a:tr h="1037522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2800" b="1" i="0">
                          <a:solidFill>
                            <a:srgbClr val="0F1115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Transformer</a:t>
                      </a:r>
                      <a:endParaRPr lang="en-IN" sz="2800" b="0" i="0">
                        <a:solidFill>
                          <a:srgbClr val="0F1115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2800" b="0" i="0" dirty="0">
                          <a:solidFill>
                            <a:srgbClr val="0F1115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75% loaded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2800" b="0" i="0" dirty="0">
                          <a:solidFill>
                            <a:srgbClr val="0F1115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🟢 Safe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224193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26686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0BE35F0B-DA91-385F-2E3E-EBDAEFB120D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7B6035-7BFB-C021-AF7B-3D8FA7C3E2B8}"/>
              </a:ext>
            </a:extLst>
          </p:cNvPr>
          <p:cNvSpPr txBox="1"/>
          <p:nvPr/>
        </p:nvSpPr>
        <p:spPr>
          <a:xfrm>
            <a:off x="314632" y="127819"/>
            <a:ext cx="11464413" cy="75097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</a:t>
            </a:r>
            <a:r>
              <a:rPr lang="en-IN" sz="2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SmartGrid</a:t>
            </a:r>
            <a:r>
              <a:rPr lang="en-IN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Bridge: Impact, Benefits &amp; Sustainability</a:t>
            </a:r>
          </a:p>
          <a:p>
            <a:r>
              <a:rPr lang="en-IN" sz="2000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 Audience Impact: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Neighborhoods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Co-ops: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Eliminates blackout fears; gives non-technical leaders a visual sandbox to maximize local solar distribution.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 Owners &amp; Fleet Operators: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Identifies exactly how many vehicles can charge at peak hours without tripping the local transformer.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Utility Operators (DISCOMs):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Serves as an affordable early-warning system to prevent unexpected grid failure and asset breakdowns.</a:t>
            </a:r>
          </a:p>
          <a:p>
            <a:r>
              <a:rPr lang="en-IN" sz="2000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 Benefits: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Democratization: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Shifts actionable energy insights from closed utility giants down to everyday citizens.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Zero-Friction Deployment: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Installs instantly via non-invasive, external sensors with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line-cutting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complex regulatory approvals.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Asset Life Extension: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Tracks real-time thermal spikes to prevent permanent equipment damage.</a:t>
            </a:r>
          </a:p>
          <a:p>
            <a:r>
              <a:rPr lang="en-IN" sz="2000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Economic &amp; Environmental Impact: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95%+ Cost Reduction: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Slashes asset monitoring infrastructure costs from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₹4,00,000+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down to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₹6,500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 node.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CapEx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Optimization: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Unlocks hidden grid capacity, saving communities millions in premature, forced physical upgrades.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Accelerated Decarbonization: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Speeds up local solar and EV infrastructure deployment while saving raw copper and steel mining waste.</a:t>
            </a:r>
          </a:p>
          <a:p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2381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17DC4782-9C6B-67AB-1E18-0A6845960BB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A31046D-C64C-6FC8-1424-FBBBC1B92CA8}"/>
              </a:ext>
            </a:extLst>
          </p:cNvPr>
          <p:cNvSpPr txBox="1"/>
          <p:nvPr/>
        </p:nvSpPr>
        <p:spPr>
          <a:xfrm>
            <a:off x="639097" y="383458"/>
            <a:ext cx="11238271" cy="6217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Feasibility :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Proven Math Engine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Uses mature, open-source Python libraries (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pandapower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OpenDSS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to solve complex grid physics automatically.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Plug-and-Play Hardware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Uses the cheap, widely documented ESP8266 chip with simple breadboard wiring.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 Load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Heavy computing runs in the cloud; the hardware only handles simple data streaming.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Zero-Risk Fallback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Can run entirely as a software simulation if physical hardware fails on the judging table.</a:t>
            </a:r>
          </a:p>
          <a:p>
            <a:pPr lvl="0"/>
            <a:endParaRPr lang="en-IN" sz="20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Viability :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Massive Cost Cut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Slashes asset monitoring costs from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₹4,00,000+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(industrial utility tech) to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₹6,500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 node.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Market Demand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Directly solves the real-world bottleneck of grids overloading due to rapid EV and solar adoption.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 Regulatory Friction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Non-invasive, low-voltage external sensors mean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dangerous utility line-cutting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legal approvals needed.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Scalability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Open-source codebase can be adapted quickly to any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neighborhood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country's grid standards via software.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05478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94114369-C0A7-865A-72CD-B3A14F11C60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F37044-8573-A849-40E5-785D0A02C339}"/>
              </a:ext>
            </a:extLst>
          </p:cNvPr>
          <p:cNvSpPr txBox="1"/>
          <p:nvPr/>
        </p:nvSpPr>
        <p:spPr>
          <a:xfrm>
            <a:off x="560439" y="511277"/>
            <a:ext cx="10717161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 Twin &amp; Transformer </a:t>
            </a:r>
            <a:r>
              <a:rPr lang="en-IN" sz="2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Low-Voltage Feasibility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Research from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Trans on Power Delivery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[1] proves that low-voltage side measurements can accurately calculate real-time internal transformer thermal stress without touching dangerous high-voltage lines.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Community-Scale Twins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case study in the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Library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[1] shows how a localized digital twin can successfully balance variable solar power against real-time household demand in a small island community.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Edge-to-Cloud Precision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Academic validation via 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[1] demonstrates that thin IoT edge layers can capture structural data points accurately enough to predict distribution network asset failures.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Grid Physics Frameworks: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Pandapower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Validation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Studies from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Cornell University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[1] benchmark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Pandapower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an industry-standard, high-fidelity Python framework for processing dense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neighborhood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 charging simulation models.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Open-Source Co-Simulation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Research from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ResearchGate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[1] proves that pairing open-source tools with digital twin interfaces allows operators to accurately map out grid safety margins without expensive proprietary software.</a:t>
            </a:r>
          </a:p>
        </p:txBody>
      </p:sp>
    </p:spTree>
    <p:extLst>
      <p:ext uri="{BB962C8B-B14F-4D97-AF65-F5344CB8AC3E}">
        <p14:creationId xmlns:p14="http://schemas.microsoft.com/office/powerpoint/2010/main" val="20090462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E0BCBBCA-9781-E22B-4E8F-1ECEE53DEC8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B65A0E-75F8-EB82-FF6A-B5E5A15EB839}"/>
              </a:ext>
            </a:extLst>
          </p:cNvPr>
          <p:cNvSpPr txBox="1"/>
          <p:nvPr/>
        </p:nvSpPr>
        <p:spPr>
          <a:xfrm>
            <a:off x="3938126" y="2686525"/>
            <a:ext cx="55158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pic>
        <p:nvPicPr>
          <p:cNvPr id="6" name="Picture 5" descr="These are the Top 10 Emerging Technologies 2026 | World Economic Forum">
            <a:extLst>
              <a:ext uri="{FF2B5EF4-FFF2-40B4-BE49-F238E27FC236}">
                <a16:creationId xmlns:a16="http://schemas.microsoft.com/office/drawing/2014/main" id="{C221F426-DF6D-2FA6-6FC8-74FBBC8F52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55" y="3519948"/>
            <a:ext cx="4061603" cy="3249282"/>
          </a:xfrm>
          <a:prstGeom prst="rect">
            <a:avLst/>
          </a:prstGeom>
        </p:spPr>
      </p:pic>
      <p:pic>
        <p:nvPicPr>
          <p:cNvPr id="8" name="Picture 7" descr="Smart grids and Energy Sustainability – Secove Portal">
            <a:extLst>
              <a:ext uri="{FF2B5EF4-FFF2-40B4-BE49-F238E27FC236}">
                <a16:creationId xmlns:a16="http://schemas.microsoft.com/office/drawing/2014/main" id="{17BDAA08-6091-8B92-0CC8-80502B31CC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7148" y="221989"/>
            <a:ext cx="3873910" cy="3110867"/>
          </a:xfrm>
          <a:prstGeom prst="rect">
            <a:avLst/>
          </a:prstGeom>
        </p:spPr>
      </p:pic>
      <p:pic>
        <p:nvPicPr>
          <p:cNvPr id="9" name="Picture 8" descr="AI Does Not Always Fail with an Error. Sometimes It Fails with a Perfectly Written Answer">
            <a:extLst>
              <a:ext uri="{FF2B5EF4-FFF2-40B4-BE49-F238E27FC236}">
                <a16:creationId xmlns:a16="http://schemas.microsoft.com/office/drawing/2014/main" id="{E62810FD-C9F4-7E78-8E64-BB324471AA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0968" y="3619466"/>
            <a:ext cx="3937205" cy="3149764"/>
          </a:xfrm>
          <a:prstGeom prst="rect">
            <a:avLst/>
          </a:prstGeom>
        </p:spPr>
      </p:pic>
      <p:pic>
        <p:nvPicPr>
          <p:cNvPr id="10" name="Picture 9" descr="Energy Management Platform: Smart Energy Optimization Guide">
            <a:extLst>
              <a:ext uri="{FF2B5EF4-FFF2-40B4-BE49-F238E27FC236}">
                <a16:creationId xmlns:a16="http://schemas.microsoft.com/office/drawing/2014/main" id="{01E4EFFE-BC39-B299-228C-8FBB3308E4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3946" y="-34201"/>
            <a:ext cx="3400907" cy="2720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7207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Lines</Template>
  <TotalTime>508</TotalTime>
  <Words>1123</Words>
  <Application>Microsoft Office PowerPoint</Application>
  <PresentationFormat>Widescreen</PresentationFormat>
  <Paragraphs>102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ragavarshanass@gmail.com</dc:creator>
  <cp:lastModifiedBy>ragavarshanass@gmail.com</cp:lastModifiedBy>
  <cp:revision>2</cp:revision>
  <dcterms:created xsi:type="dcterms:W3CDTF">2026-09-13T13:19:18Z</dcterms:created>
  <dcterms:modified xsi:type="dcterms:W3CDTF">2026-09-25T10:21:05Z</dcterms:modified>
</cp:coreProperties>
</file>